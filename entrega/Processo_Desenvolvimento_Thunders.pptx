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quadro Miro (frame 'Processo - Em Aprimoramento'). Layout e cores: Manual de Marca Thunders (p.13, p.17, p.25).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Miro, frame 'Processo - Em Aprimoramento' — perguntas 'O que devemos construir?', 'Devemos executar?', 'Como devemos implementar a feature?'; blocos 'Iniciativa/Feature/User Stories/Tasks'; 'Gestão'; 'Detalhes importantes' (célula autônoma). O quadro não traz um objetivo escrito do processo — ⚠️ a confirmar.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Espinha fornecida por Sidney, confirmada nas respostas às divergências: Gate único antes do Build; antes da publicação não há gate (há divulgação de Release); depois segue para o monitoramento. Release = Publicação; Discovery = Concepção da Solução. Conteúdo de cada etapa: Miro, frame 'Processo - Em Aprimoramento'. ⚠️ Ordem Release → GMUD inferida do quadro (blocos verdes) — a confirmar.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Miro, frame 'Processo - Em Aprimoramento' — blocos 'Passagem do Briefing' ('o tema que iremos trabalhar', 'A célula recebe o problema a ser tratado', cerimônia) e 'Imersão' ('Célula entendendo o tema', 'Entender o suficiente…', indicador 'Tempo da Imersão').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Miro, frame 'Processo - Em Aprimoramento' — 'Concepção da Solução' (Dores/Oportunidades, Hipóteses/Premissas, Plano da Iniciativa, Roadmap priorizado, Tempo em Concepção) e 'Gate / Abandono da Iniciativa' (perguntas, Aprovado/Reprovado/Replanejamento/Abandono, indicadores, cerimônia Avaliação do Gate). Observação: a numeração do Plano da Iniciativa no quadro pula o item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Miro, frame 'Processo - Em Aprimoramento' — bloco 'Build' (Roadmap priorizado, 'Como devemos implementar a feature?', SDD, Protótipo, Implementa/Tasks, Teste funcional e usabilidade, 'OK?', 'Identificação de Ajustes', indicadores de fluxo). * Indicadores com asterisco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Miro, frame 'Processo - Em Aprimoramento' — bloco 'Deploy / Release' (cerimônia Release assíncrona, Teams, 24 h, Versão) e blocos verdes 'Release': Negócio, Acompanhamento/utilização, Checklist de Subida, 'GMUD - Itens indispensáveis' e nota 'Processo de GMUD'. Segundo Sidney, cada bloco verde é um micro-processo e as notas são pontos importantes. ⚠️ Confirmar se 'duas etapas' de GMUD = Checklist de Subida + GMUD itens indispensáveis.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Miro, frame 'Processo - Em Aprimoramento' — blocos verdes 'Pós go-live' (Monitoramento: métricas de uso, Grafana, suporte, Rabbit, comparações), 'Entrega da Garantia' (Evidências) e 'Indicadores de Resultado'. '90 dias, sem custo' vem do frame 'Thunders - Fluxo do Processo de Execução do Projeto' (6 etapas: ... 5. Garantia - 90 dias; 6. Sustentação) — ⚠️ confirmar se se aplica a este processo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3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cessosThunders/entrega/assets/logo_reduzida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91072"/>
            <a:ext cx="104241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aio" descr="/home/user/ProcessosThunders/entrega/assets/raio_ou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640080"/>
            <a:ext cx="3566160" cy="4379976"/>
          </a:xfrm>
          <a:prstGeom prst="rect">
            <a:avLst/>
          </a:prstGeom>
        </p:spPr>
      </p:pic>
      <p:pic>
        <p:nvPicPr>
          <p:cNvPr id="3" name="Image 1" descr="/home/user/ProcessosThunders/entrega/assets/logo_reduzida_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1737360" cy="51206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1031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Processo de Desenvolvimento de Software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9C6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 passagem do briefing à entrega da garantia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Resumo do quadro de processo — Miro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Três perguntas guiam a célula da imersão à entrega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A0D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CONCEPÇÃO DA SOLUÇÃO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que devemos construir?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Dores, oportunidades, hipóteses e premissas viram o Plano da Iniciativa.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297680" y="18288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A0D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Devemos executar?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Coerência com as dores, alinhamento estratégico e viabilidade técnica.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8046720" y="1828800"/>
            <a:ext cx="3566160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A0D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331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 devemos implementar a feature?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Define, implementa e testa até a entrega.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Hierarquia do trabalho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548640" y="4663440"/>
            <a:ext cx="1280160" cy="347472"/>
          </a:xfrm>
          <a:prstGeom prst="roundRect">
            <a:avLst>
              <a:gd name="adj" fmla="val 36842"/>
            </a:avLst>
          </a:prstGeom>
          <a:solidFill>
            <a:srgbClr val="03399D"/>
          </a:solidFill>
          <a:ln w="12700">
            <a:solidFill>
              <a:srgbClr val="03399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66344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Iniciativa</a:t>
            </a:r>
            <a:endParaRPr lang="en-US" sz="1100" dirty="0"/>
          </a:p>
        </p:txBody>
      </p:sp>
      <p:sp>
        <p:nvSpPr>
          <p:cNvPr id="19" name="card"/>
          <p:cNvSpPr/>
          <p:nvPr/>
        </p:nvSpPr>
        <p:spPr>
          <a:xfrm>
            <a:off x="1920240" y="4663440"/>
            <a:ext cx="1280160" cy="347472"/>
          </a:xfrm>
          <a:prstGeom prst="roundRect">
            <a:avLst>
              <a:gd name="adj" fmla="val 36842"/>
            </a:avLst>
          </a:prstGeom>
          <a:solidFill>
            <a:srgbClr val="03399D"/>
          </a:solidFill>
          <a:ln w="12700">
            <a:solidFill>
              <a:srgbClr val="03399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29968" y="466344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Feature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3291840" y="4663440"/>
            <a:ext cx="1280160" cy="347472"/>
          </a:xfrm>
          <a:prstGeom prst="roundRect">
            <a:avLst>
              <a:gd name="adj" fmla="val 36842"/>
            </a:avLst>
          </a:prstGeom>
          <a:solidFill>
            <a:srgbClr val="03399D"/>
          </a:solidFill>
          <a:ln w="12700">
            <a:solidFill>
              <a:srgbClr val="03399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01568" y="466344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4663440" y="4663440"/>
            <a:ext cx="1280160" cy="347472"/>
          </a:xfrm>
          <a:prstGeom prst="roundRect">
            <a:avLst>
              <a:gd name="adj" fmla="val 36842"/>
            </a:avLst>
          </a:prstGeom>
          <a:solidFill>
            <a:srgbClr val="03399D"/>
          </a:solidFill>
          <a:ln w="12700">
            <a:solidFill>
              <a:srgbClr val="03399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466344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Tasks (código)</a:t>
            </a:r>
            <a:endParaRPr lang="en-US" sz="1100" dirty="0"/>
          </a:p>
        </p:txBody>
      </p:sp>
      <p:sp>
        <p:nvSpPr>
          <p:cNvPr id="25" name="card"/>
          <p:cNvSpPr/>
          <p:nvPr/>
        </p:nvSpPr>
        <p:spPr>
          <a:xfrm>
            <a:off x="6309360" y="4297680"/>
            <a:ext cx="5303520" cy="1691640"/>
          </a:xfrm>
          <a:prstGeom prst="roundRect">
            <a:avLst>
              <a:gd name="adj" fmla="val 7568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C6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Célula autônoma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Propõe melhorias na própria dinâmica (retrospectivas técnicas) e no processo, nos agentes, nas skills e na arquitetura, com os respectivos responsáveis.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2578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 gestão guia a célula da imersão até a conclusão da iniciativa.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PROCESSO MACRO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Espinha geral do processo</a:t>
            </a:r>
            <a:endParaRPr lang="en-US" sz="3000" dirty="0"/>
          </a:p>
        </p:txBody>
      </p:sp>
      <p:sp>
        <p:nvSpPr>
          <p:cNvPr id="4" name="linha"/>
          <p:cNvSpPr/>
          <p:nvPr/>
        </p:nvSpPr>
        <p:spPr>
          <a:xfrm>
            <a:off x="1211580" y="2331720"/>
            <a:ext cx="9765792" cy="0"/>
          </a:xfrm>
          <a:prstGeom prst="line">
            <a:avLst/>
          </a:prstGeom>
          <a:noFill/>
          <a:ln w="38100">
            <a:solidFill>
              <a:srgbClr val="03399D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64692" y="2084832"/>
            <a:ext cx="493776" cy="493776"/>
          </a:xfrm>
          <a:prstGeom prst="ellipse">
            <a:avLst/>
          </a:prstGeom>
          <a:solidFill>
            <a:srgbClr val="03399D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4692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Passagem do Briefing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 célula recebe o problema a ser tratado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59805" y="2084832"/>
            <a:ext cx="493776" cy="493776"/>
          </a:xfrm>
          <a:prstGeom prst="ellipse">
            <a:avLst/>
          </a:prstGeom>
          <a:solidFill>
            <a:srgbClr val="03399D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59805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1943753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53481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053481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Imersão e Concepção da Solução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09198" y="2039112"/>
            <a:ext cx="585216" cy="585216"/>
          </a:xfrm>
          <a:prstGeom prst="diamond">
            <a:avLst/>
          </a:prstGeom>
          <a:solidFill>
            <a:srgbClr val="09C6FF"/>
          </a:solidFill>
          <a:ln w="12700">
            <a:solidFill>
              <a:srgbClr val="09C6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54918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3338866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594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448594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Devemos executar?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50031" y="2084832"/>
            <a:ext cx="493776" cy="493776"/>
          </a:xfrm>
          <a:prstGeom prst="ellipse">
            <a:avLst/>
          </a:prstGeom>
          <a:solidFill>
            <a:srgbClr val="03399D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50031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4733979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3707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43707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Define, implementa e testa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45145" y="2084832"/>
            <a:ext cx="493776" cy="493776"/>
          </a:xfrm>
          <a:prstGeom prst="ellipse">
            <a:avLst/>
          </a:prstGeom>
          <a:solidFill>
            <a:srgbClr val="00A0D1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45145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6129093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38821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Release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238821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Publicação, divulgada 24 h antes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40258" y="2084832"/>
            <a:ext cx="493776" cy="493776"/>
          </a:xfrm>
          <a:prstGeom prst="ellipse">
            <a:avLst/>
          </a:prstGeom>
          <a:solidFill>
            <a:srgbClr val="00A0D1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40258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7524206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33934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GMUD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633934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Itens indispensáveis e checklist de subida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335371" y="2084832"/>
            <a:ext cx="493776" cy="493776"/>
          </a:xfrm>
          <a:prstGeom prst="ellipse">
            <a:avLst/>
          </a:prstGeom>
          <a:solidFill>
            <a:srgbClr val="001845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335371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8919319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29047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Pós go-live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029047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Monitoramento de uso e performance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0730484" y="2084832"/>
            <a:ext cx="493776" cy="493776"/>
          </a:xfrm>
          <a:prstGeom prst="ellipse">
            <a:avLst/>
          </a:prstGeom>
          <a:solidFill>
            <a:srgbClr val="001845"/>
          </a:solidFill>
          <a:ln w="38100">
            <a:solidFill>
              <a:srgbClr val="F3F7F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730484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card"/>
          <p:cNvSpPr/>
          <p:nvPr/>
        </p:nvSpPr>
        <p:spPr>
          <a:xfrm>
            <a:off x="10314432" y="2971800"/>
            <a:ext cx="1325880" cy="233172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424160" y="3108960"/>
            <a:ext cx="1106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Entrega da Garantia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424160" y="3931920"/>
            <a:ext cx="1106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Evidências de uso, performance e suporte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Gate reprovado volta ao passo anterior (ou replaneja / abandona). Teste não aprovado gera ajustes dentro do tempo de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PASSAGEM DO BRIEFING E IMERSÃO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célula recebe o tema e entende o suficiente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49377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Passagem do Briefing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O tema que iremos trabalhar</a:t>
            </a:r>
            <a:endParaRPr lang="en-US" sz="16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 célula recebe o problema a ser tratado</a:t>
            </a:r>
            <a:endParaRPr lang="en-US" sz="16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Cerimônia: Passagem do Briefing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23560" y="3154680"/>
            <a:ext cx="640080" cy="457200"/>
          </a:xfrm>
          <a:prstGeom prst="rightArrow">
            <a:avLst/>
          </a:prstGeom>
          <a:solidFill>
            <a:srgbClr val="00A0D1"/>
          </a:solidFill>
          <a:ln w="12700">
            <a:solidFill>
              <a:srgbClr val="00A0D1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6400800" y="182880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Imersão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5603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Célula entendendo o tema</a:t>
            </a:r>
            <a:endParaRPr lang="en-US" sz="16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Entender o suficiente para poder trabalhar no tema</a:t>
            </a:r>
            <a:endParaRPr lang="en-US" sz="16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Primeiras dores, oportunidades, hipóteses e premissas são levantadas</a:t>
            </a:r>
            <a:endParaRPr lang="en-US" sz="16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 célula precisa entender um pouco de tudo do que está sendo elaborado</a:t>
            </a:r>
            <a:endParaRPr lang="en-US" sz="1600" dirty="0"/>
          </a:p>
        </p:txBody>
      </p:sp>
      <p:sp>
        <p:nvSpPr>
          <p:cNvPr id="11" name="card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7500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Indicador: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Tempo da Imersão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DISCOVERY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Concepção da Solução e Gate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640080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Concepção da Solução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A0D1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O que devemos construir?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822960" y="278892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03399D"/>
          </a:solidFill>
          <a:ln w="12700">
            <a:solidFill>
              <a:srgbClr val="03399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8892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Dores / Oportunidades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3657600" y="278892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03399D"/>
          </a:solidFill>
          <a:ln w="12700">
            <a:solidFill>
              <a:srgbClr val="03399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67328" y="278892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Hipóteses / Premissas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918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Validar, questionar e entender com o mundo externo; discussão e validação totalmente em conjunto.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Plano da Iniciativa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22960" y="438912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38912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Negócio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3657600" y="438912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67328" y="438912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Solução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822960" y="4828032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82803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Solução arquitetural</a:t>
            </a:r>
            <a:endParaRPr lang="en-US" sz="1200" dirty="0"/>
          </a:p>
        </p:txBody>
      </p:sp>
      <p:sp>
        <p:nvSpPr>
          <p:cNvPr id="19" name="card"/>
          <p:cNvSpPr/>
          <p:nvPr/>
        </p:nvSpPr>
        <p:spPr>
          <a:xfrm>
            <a:off x="3657600" y="4828032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3F7FE"/>
          </a:solidFill>
          <a:ln w="12700">
            <a:solidFill>
              <a:srgbClr val="F3F7F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67328" y="482803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Governança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3492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Output: </a:t>
            </a:r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Plano da Iniciativa e Roadmap priorizado  ·  Indicador: Tempo em Concepção</a:t>
            </a:r>
            <a:endParaRPr lang="en-US" sz="1200" dirty="0"/>
          </a:p>
        </p:txBody>
      </p:sp>
      <p:sp>
        <p:nvSpPr>
          <p:cNvPr id="22" name="card"/>
          <p:cNvSpPr/>
          <p:nvPr/>
        </p:nvSpPr>
        <p:spPr>
          <a:xfrm>
            <a:off x="7223760" y="1828800"/>
            <a:ext cx="4389120" cy="4160520"/>
          </a:xfrm>
          <a:prstGeom prst="roundRect">
            <a:avLst>
              <a:gd name="adj" fmla="val 3077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2011680"/>
            <a:ext cx="457200" cy="457200"/>
          </a:xfrm>
          <a:prstGeom prst="diamond">
            <a:avLst/>
          </a:prstGeom>
          <a:solidFill>
            <a:srgbClr val="09C6FF"/>
          </a:solidFill>
          <a:ln w="12700">
            <a:solidFill>
              <a:srgbClr val="09C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9244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Gate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Devemos executar?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283464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Solução coerente com as dores e os temas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Alinhada com a estratégia da empresa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Solução técnica viável (tecnologia, custo)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16052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Aprovado: 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Build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Reprovado: 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volta ao passo anterior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Replanejamento: 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 célula não pode seguir</a:t>
            </a:r>
            <a:endParaRPr lang="en-US" sz="12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Abandono: </a:t>
            </a:r>
            <a:pPr algn="l"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custo ou know-how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5440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Indicadores: taxa de reprovação, iniciativas replanejadas e abandonadas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BUILD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Define, implementa e testa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26517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A0D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Como devemos implementar a feature?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SDD · Protótipo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2606040"/>
            <a:ext cx="274320" cy="320040"/>
          </a:xfrm>
          <a:prstGeom prst="rightArrow">
            <a:avLst/>
          </a:prstGeom>
          <a:solidFill>
            <a:srgbClr val="00A0D1"/>
          </a:solidFill>
          <a:ln w="12700">
            <a:solidFill>
              <a:srgbClr val="00A0D1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3566160" y="1828800"/>
            <a:ext cx="26517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A0D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Implementa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288036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Tasks (código) por feature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2606040"/>
            <a:ext cx="274320" cy="320040"/>
          </a:xfrm>
          <a:prstGeom prst="rightArrow">
            <a:avLst/>
          </a:prstGeom>
          <a:solidFill>
            <a:srgbClr val="00A0D1"/>
          </a:solidFill>
          <a:ln w="12700">
            <a:solidFill>
              <a:srgbClr val="00A0D1"/>
            </a:solidFill>
            <a:prstDash val="solid"/>
          </a:ln>
        </p:spPr>
      </p:sp>
      <p:sp>
        <p:nvSpPr>
          <p:cNvPr id="14" name="card"/>
          <p:cNvSpPr/>
          <p:nvPr/>
        </p:nvSpPr>
        <p:spPr>
          <a:xfrm>
            <a:off x="6583680" y="1828800"/>
            <a:ext cx="26517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A0D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8122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Teste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88036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Funcional e usabilidade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012680" y="1920240"/>
            <a:ext cx="1005840" cy="1005840"/>
          </a:xfrm>
          <a:prstGeom prst="diamond">
            <a:avLst/>
          </a:prstGeom>
          <a:solidFill>
            <a:srgbClr val="09C6FF"/>
          </a:solidFill>
          <a:ln w="12700">
            <a:solidFill>
              <a:srgbClr val="09C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1268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OK?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3017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Sim: sem bugs nem ajustes — segue para o Release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548640" y="3931920"/>
            <a:ext cx="11064240" cy="685800"/>
          </a:xfrm>
          <a:prstGeom prst="roundRect">
            <a:avLst>
              <a:gd name="adj" fmla="val 18667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9319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C6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Não: 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Identificação de ajustes — a célula ajusta e isso entra no tempo de Build.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Indicadores de fluxo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521208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21208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WIP</a:t>
            </a:r>
            <a:endParaRPr lang="en-US" sz="1100" dirty="0"/>
          </a:p>
        </p:txBody>
      </p:sp>
      <p:sp>
        <p:nvSpPr>
          <p:cNvPr id="26" name="card"/>
          <p:cNvSpPr/>
          <p:nvPr/>
        </p:nvSpPr>
        <p:spPr>
          <a:xfrm>
            <a:off x="3337560" y="521208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47288" y="521208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Idade do WIP</a:t>
            </a: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126480" y="521208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6208" y="521208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Lead Time</a:t>
            </a:r>
            <a:endParaRPr lang="en-US" sz="1100" dirty="0"/>
          </a:p>
        </p:txBody>
      </p:sp>
      <p:sp>
        <p:nvSpPr>
          <p:cNvPr id="30" name="card"/>
          <p:cNvSpPr/>
          <p:nvPr/>
        </p:nvSpPr>
        <p:spPr>
          <a:xfrm>
            <a:off x="8915400" y="5212080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25128" y="5212080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Cycle Time</a:t>
            </a:r>
            <a:endParaRPr lang="en-US" sz="1100" dirty="0"/>
          </a:p>
        </p:txBody>
      </p:sp>
      <p:sp>
        <p:nvSpPr>
          <p:cNvPr id="32" name="card"/>
          <p:cNvSpPr/>
          <p:nvPr/>
        </p:nvSpPr>
        <p:spPr>
          <a:xfrm>
            <a:off x="548640" y="5650992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" y="5650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Tempo em Definição</a:t>
            </a:r>
            <a:endParaRPr lang="en-US" sz="1100" dirty="0"/>
          </a:p>
        </p:txBody>
      </p:sp>
      <p:sp>
        <p:nvSpPr>
          <p:cNvPr id="34" name="card"/>
          <p:cNvSpPr/>
          <p:nvPr/>
        </p:nvSpPr>
        <p:spPr>
          <a:xfrm>
            <a:off x="3337560" y="5650992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447288" y="5650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Tempo em Teste</a:t>
            </a:r>
            <a:endParaRPr lang="en-US" sz="1100" dirty="0"/>
          </a:p>
        </p:txBody>
      </p:sp>
      <p:sp>
        <p:nvSpPr>
          <p:cNvPr id="36" name="card"/>
          <p:cNvSpPr/>
          <p:nvPr/>
        </p:nvSpPr>
        <p:spPr>
          <a:xfrm>
            <a:off x="6126480" y="5650992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36208" y="5650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Tempo em Homologação*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8915400" y="5650992"/>
            <a:ext cx="2651760" cy="347472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025128" y="5650992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1845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Bug em Homologação*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· RELEASE E GMUD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Release divulgada antes da subida, com GMUD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3931920" cy="41605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Release (assíncrona)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Divulgada no mínimo 24 h antes da subida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Postada no canal do Teams para todos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Breve descrição, Demos e Documento Técnico (Requisitos de Subida)</a:t>
            </a:r>
            <a:endParaRPr lang="en-US" sz="13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 célula decide qual pacote de versões sobe (precisa gerar valor)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Indicadores: releases abortadas e concluídas com sucesso, ocorrências em produção, tempo de execução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4754880" y="1828800"/>
            <a:ext cx="33375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9933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Negócio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25603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Publica no SharePoint, com informações no Jira: features, regra de negócio, vídeo de utilização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8229600" y="1828800"/>
            <a:ext cx="33375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58200" y="19933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Acompanhamento / utilização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25603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Features, script de acompanhamento de uso (quando aplicável), TAG(s) do Mixpanel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4754880" y="3977640"/>
            <a:ext cx="33375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83480" y="41422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Checklist de Subida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7091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Features, tamanho de campos, índices, slow queries e plano de execução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8229600" y="3977640"/>
            <a:ext cx="3337560" cy="2011680"/>
          </a:xfrm>
          <a:prstGeom prst="roundRect">
            <a:avLst>
              <a:gd name="adj" fmla="val 6364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58200" y="41422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9C6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GMUD: itens indispensáveis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47091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Microsserviços (PRs), feature flag, tenants e scripts; informações centralizadas na feature do Jira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3399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· PÓS GO-LIVE E GARANTIA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Monitoramento e entrega da garantia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539496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Pós go-live: Monitoramento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Métricas de uso e de performance (Grafana)</a:t>
            </a:r>
            <a:endParaRPr lang="en-US" sz="15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Suporte (tickets) e fila do Rabbit (processamento, erro, DLQ)</a:t>
            </a:r>
            <a:endParaRPr lang="en-US" sz="15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Comparações: hoje × ontem, × última semana, × último mês (relativo)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17920" y="1828800"/>
            <a:ext cx="539496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Entrega da Garantia: Evidências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146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Evidências de uso e de performance (Grafana)</a:t>
            </a:r>
            <a:endParaRPr lang="en-US" sz="15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Evidências de suporte (tickets) e da fila do Rabbit</a:t>
            </a:r>
            <a:endParaRPr lang="en-US" sz="15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02872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Garantia de 90 dias, sempre sem custo ao cliente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184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Indicadores de resultado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48640" y="5029200"/>
            <a:ext cx="3611880" cy="347472"/>
          </a:xfrm>
          <a:prstGeom prst="roundRect">
            <a:avLst>
              <a:gd name="adj" fmla="val 36842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5029200"/>
            <a:ext cx="3392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Deployment Frequency (mensal)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279392" y="5029200"/>
            <a:ext cx="3611880" cy="347472"/>
          </a:xfrm>
          <a:prstGeom prst="roundRect">
            <a:avLst>
              <a:gd name="adj" fmla="val 36842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5029200"/>
            <a:ext cx="3392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Change Failure Rate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8010144" y="5029200"/>
            <a:ext cx="3611880" cy="347472"/>
          </a:xfrm>
          <a:prstGeom prst="roundRect">
            <a:avLst>
              <a:gd name="adj" fmla="val 36842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19872" y="5029200"/>
            <a:ext cx="3392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Tempo gasto nas correções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548640" y="5486400"/>
            <a:ext cx="3611880" cy="347472"/>
          </a:xfrm>
          <a:prstGeom prst="roundRect">
            <a:avLst>
              <a:gd name="adj" fmla="val 36842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5486400"/>
            <a:ext cx="3392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Previsto × Real (utilização mensal)</a:t>
            </a:r>
            <a:endParaRPr lang="en-US" sz="1200" dirty="0"/>
          </a:p>
        </p:txBody>
      </p:sp>
      <p:sp>
        <p:nvSpPr>
          <p:cNvPr id="19" name="card"/>
          <p:cNvSpPr/>
          <p:nvPr/>
        </p:nvSpPr>
        <p:spPr>
          <a:xfrm>
            <a:off x="4279392" y="5486400"/>
            <a:ext cx="3611880" cy="347472"/>
          </a:xfrm>
          <a:prstGeom prst="roundRect">
            <a:avLst>
              <a:gd name="adj" fmla="val 36842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5486400"/>
            <a:ext cx="3392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Chamados em produção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8010144" y="5486400"/>
            <a:ext cx="3611880" cy="347472"/>
          </a:xfrm>
          <a:prstGeom prst="roundRect">
            <a:avLst>
              <a:gd name="adj" fmla="val 36842"/>
            </a:avLst>
          </a:prstGeom>
          <a:solidFill>
            <a:srgbClr val="002872"/>
          </a:solidFill>
          <a:ln w="12700">
            <a:solidFill>
              <a:srgbClr val="0028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19872" y="5486400"/>
            <a:ext cx="3392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Elza" pitchFamily="34" charset="0"/>
                <a:ea typeface="Elza" pitchFamily="34" charset="-122"/>
                <a:cs typeface="Elza" pitchFamily="34" charset="-120"/>
              </a:rPr>
              <a:t>Aderência em produção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002872"/>
                </a:solidFill>
                <a:latin typeface="Elza"/>
                <a:ea typeface="Elza"/>
                <a:cs typeface="Elza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unders">
  <a:themeElements>
    <a:clrScheme name="Thunders">
      <a:dk1>
        <a:srgbClr val="001845"/>
      </a:dk1>
      <a:lt1>
        <a:srgbClr val="FFFFFF"/>
      </a:lt1>
      <a:dk2>
        <a:srgbClr val="002872"/>
      </a:dk2>
      <a:lt2>
        <a:srgbClr val="F3F7FE"/>
      </a:lt2>
      <a:accent1>
        <a:srgbClr val="03399D"/>
      </a:accent1>
      <a:accent2>
        <a:srgbClr val="00A0D1"/>
      </a:accent2>
      <a:accent3>
        <a:srgbClr val="09C6FF"/>
      </a:accent3>
      <a:accent4>
        <a:srgbClr val="002872"/>
      </a:accent4>
      <a:accent5>
        <a:srgbClr val="001845"/>
      </a:accent5>
      <a:accent6>
        <a:srgbClr val="F3F7FE"/>
      </a:accent6>
      <a:hlink>
        <a:srgbClr val="03399D"/>
      </a:hlink>
      <a:folHlink>
        <a:srgbClr val="002872"/>
      </a:folHlink>
    </a:clrScheme>
    <a:fontScheme name="Thunders">
      <a:majorFont>
        <a:latin typeface="DM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Elz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Processo de Desenvolvimento de Software — Thunders</dc:title>
  <dc:subject>PptxGenJS Presentation</dc:subject>
  <dc:creator>Thunders</dc:creator>
  <cp:lastModifiedBy>Thunders</cp:lastModifiedBy>
  <cp:revision>1</cp:revision>
  <dcterms:created xsi:type="dcterms:W3CDTF">2026-10-02T11:57:55Z</dcterms:created>
  <dcterms:modified xsi:type="dcterms:W3CDTF">2026-10-02T11:57:55Z</dcterms:modified>
</cp:coreProperties>
</file>